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9c8f3be-fd2d-5f5b-ecb6-8c92cb640cd1}">
          <p14:sldIdLst>
            <p14:sldId id="256"/>
            <p14:sldId id="257"/>
          </p14:sldIdLst>
        </p14:section>
        <p14:section name="Method" id="{820e9756-ff6a-0107-2e8f-1f8b1283d0b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Results" id="{e8ecb32f-385e-490d-0381-68d4b3d32155}">
          <p14:sldIdLst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264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3264F"/>
                </a:solidFill>
                <a:latin typeface="+mn-lt"/>
              </a:rPr>
              <a:t>Rating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Ratings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1★</c:v>
                  </c:pt>
                  <c:pt idx="1">
                    <c:v>2★</c:v>
                  </c:pt>
                  <c:pt idx="2">
                    <c:v>3★</c:v>
                  </c:pt>
                  <c:pt idx="3">
                    <c:v>4★</c:v>
                  </c:pt>
                  <c:pt idx="4">
                    <c:v>5★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266</c:v>
                </c:pt>
                <c:pt idx="1">
                  <c:v>990</c:v>
                </c:pt>
                <c:pt idx="2">
                  <c:v>1514</c:v>
                </c:pt>
                <c:pt idx="3">
                  <c:v>1429</c:v>
                </c:pt>
                <c:pt idx="4">
                  <c:v>1032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264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3264F"/>
                </a:solidFill>
                <a:latin typeface="+mn-lt"/>
              </a:rPr>
              <a:t>Item profile: Amber Fort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 weight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fort</c:v>
                  </c:pt>
                  <c:pt idx="1">
                    <c:v>palace</c:v>
                  </c:pt>
                  <c:pt idx="2">
                    <c:v>unesco</c:v>
                  </c:pt>
                  <c:pt idx="3">
                    <c:v>photography</c:v>
                  </c:pt>
                  <c:pt idx="4">
                    <c:v>history</c:v>
                  </c:pt>
                  <c:pt idx="5">
                    <c:v>architecture</c:v>
                  </c:pt>
                  <c:pt idx="6">
                    <c:v>heritage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0.47</c:v>
                </c:pt>
                <c:pt idx="1">
                  <c:v>0.47</c:v>
                </c:pt>
                <c:pt idx="2">
                  <c:v>0.47</c:v>
                </c:pt>
                <c:pt idx="3">
                  <c:v>0.31</c:v>
                </c:pt>
                <c:pt idx="4">
                  <c:v>0.29</c:v>
                </c:pt>
                <c:pt idx="5">
                  <c:v>0.29</c:v>
                </c:pt>
                <c:pt idx="6">
                  <c:v>0.28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264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3264F"/>
                </a:solidFill>
                <a:latin typeface="+mn-lt"/>
              </a:rPr>
              <a:t>Learned neighbours of Amber Fort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Similarity</c:v>
                </c:pt>
              </c:strCache>
            </c:strRef>
          </c:tx>
          <c:spPr>
            <a:solidFill>
              <a:srgbClr val="6B5B9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Jantar Mantar</c:v>
                  </c:pt>
                  <c:pt idx="1">
                    <c:v>Red Fort (Delhi)</c:v>
                  </c:pt>
                  <c:pt idx="2">
                    <c:v>City Palace</c:v>
                  </c:pt>
                  <c:pt idx="3">
                    <c:v>Humayun's Tomb (Delhi)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0.36</c:v>
                </c:pt>
                <c:pt idx="1">
                  <c:v>0.35</c:v>
                </c:pt>
                <c:pt idx="2">
                  <c:v>0.33</c:v>
                </c:pt>
                <c:pt idx="3">
                  <c:v>0.31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264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3264F"/>
                </a:solidFill>
                <a:latin typeface="+mn-lt"/>
              </a:rPr>
              <a:t>Singular values (first 15)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Kept (8 factors)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2E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23.8</c:v>
                </c:pt>
                <c:pt idx="1">
                  <c:v>19.1</c:v>
                </c:pt>
                <c:pt idx="2">
                  <c:v>17.8</c:v>
                </c:pt>
                <c:pt idx="3">
                  <c:v>16.3</c:v>
                </c:pt>
                <c:pt idx="4">
                  <c:v>15.9</c:v>
                </c:pt>
                <c:pt idx="5">
                  <c:v>14</c:v>
                </c:pt>
                <c:pt idx="6">
                  <c:v>13</c:v>
                </c:pt>
                <c:pt idx="7">
                  <c:v>12.2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Dropped</c:v>
                </c:pt>
              </c:strCache>
            </c:strRef>
          </c:tx>
          <c:spPr>
            <a:solidFill>
              <a:srgbClr val="C9C3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2E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11.2</c:v>
                </c:pt>
                <c:pt idx="9">
                  <c:v>10.9</c:v>
                </c:pt>
                <c:pt idx="10">
                  <c:v>10.8</c:v>
                </c:pt>
                <c:pt idx="11">
                  <c:v>10.7</c:v>
                </c:pt>
                <c:pt idx="12">
                  <c:v>10.5</c:v>
                </c:pt>
                <c:pt idx="13">
                  <c:v>10.3</c:v>
                </c:pt>
                <c:pt idx="14">
                  <c:v>10.3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B2E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1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D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1B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Precision@5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Popularity</c:v>
                  </c:pt>
                  <c:pt idx="1">
                    <c:v>Content</c:v>
                  </c:pt>
                  <c:pt idx="2">
                    <c:v>Item-CF</c:v>
                  </c:pt>
                  <c:pt idx="3">
                    <c:v>SVD</c:v>
                  </c:pt>
                  <c:pt idx="4">
                    <c:v>Hybrid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0.096</c:v>
                </c:pt>
                <c:pt idx="1">
                  <c:v>0.202</c:v>
                </c:pt>
                <c:pt idx="2">
                  <c:v>0.171</c:v>
                </c:pt>
                <c:pt idx="3">
                  <c:v>0.193</c:v>
                </c:pt>
                <c:pt idx="4">
                  <c:v>0.228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Recall@5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Popularity</c:v>
                  </c:pt>
                  <c:pt idx="1">
                    <c:v>Content</c:v>
                  </c:pt>
                  <c:pt idx="2">
                    <c:v>Item-CF</c:v>
                  </c:pt>
                  <c:pt idx="3">
                    <c:v>SVD</c:v>
                  </c:pt>
                  <c:pt idx="4">
                    <c:v>Hybrid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0.234</c:v>
                </c:pt>
                <c:pt idx="1">
                  <c:v>0.528</c:v>
                </c:pt>
                <c:pt idx="2">
                  <c:v>0.44</c:v>
                </c:pt>
                <c:pt idx="3">
                  <c:v>0.51</c:v>
                </c:pt>
                <c:pt idx="4">
                  <c:v>0.584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NDCG@5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Popularity</c:v>
                  </c:pt>
                  <c:pt idx="1">
                    <c:v>Content</c:v>
                  </c:pt>
                  <c:pt idx="2">
                    <c:v>Item-CF</c:v>
                  </c:pt>
                  <c:pt idx="3">
                    <c:v>SVD</c:v>
                  </c:pt>
                  <c:pt idx="4">
                    <c:v>Hybrid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0.171</c:v>
                </c:pt>
                <c:pt idx="1">
                  <c:v>0.44</c:v>
                </c:pt>
                <c:pt idx="2">
                  <c:v>0.333</c:v>
                </c:pt>
                <c:pt idx="3">
                  <c:v>0.429</c:v>
                </c:pt>
                <c:pt idx="4">
                  <c:v>0.484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E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</c:scaling>
        <c:delete val="0"/>
        <c:axPos val="l"/>
        <c:majorGridlines>
          <c:spPr>
            <a:ln w="9525" cap="flat">
              <a:solidFill>
                <a:srgbClr val="E2DE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1B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264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3264F"/>
                </a:solidFill>
                <a:latin typeface="+mn-lt"/>
              </a:rPr>
              <a:t>NDCG@5 by weights (content / item-CF / SVD)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NDCG@5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Content only (1/0/0)</c:v>
                  </c:pt>
                  <c:pt idx="1">
                    <c:v>CF only (0/.5/.5)</c:v>
                  </c:pt>
                  <c:pt idx="2">
                    <c:v>0.2/0.4/0.4</c:v>
                  </c:pt>
                  <c:pt idx="3">
                    <c:v>0.6/0.2/0.2</c:v>
                  </c:pt>
                  <c:pt idx="4">
                    <c:v>0.4/0.3/0.3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0.44</c:v>
                </c:pt>
                <c:pt idx="1">
                  <c:v>0.438</c:v>
                </c:pt>
                <c:pt idx="2">
                  <c:v>0.472</c:v>
                </c:pt>
                <c:pt idx="3">
                  <c:v>0.482</c:v>
                </c:pt>
                <c:pt idx="4">
                  <c:v>0.484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recommender that not only ranks tourist places for a person but turns that ranking into a realistic day-by-day plan. Built for the AIM3143 mini project. Introduce team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Generic 'top 10 things to do' lists are not personal and not practical. Our system answers two questions: which places suit this person, and how to fit them into real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Data feeds three recommenders. Their scores are blended into one hybrid score. The planner turns the ranked list into days. The Streamlit app shows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public rating dataset exists for these exact places, so we simulated users. Each user has one or two personas; they visit and rate places that match their tags, plus noise. 72% sparsity is a realistic challenge for collaborative filtering.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place is described by tags. TF-IDF gives rarer tags more weight. A user profile is the sum of the vectors of places they liked minus those they disliked, plus any interests they tick. Cosine similarity ranks places. This works even for brand-new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places are similar if the same users rate them similarly. Mean-centring removes generous versus strict raters. To predict a user's rating for a place, average their deviations on its 10 nearest neighbours that they have rated, weighted by similarity. Item-CF had the lowest RMSE.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SVD is the model-based approach. After filling and centring the matrix, SVD finds hidden 'taste dimensions'. Keeping only the strongest 8 removes noise and generalises to places a user hasn't rated. This also covers the preprocessing topics: normalisation, missing values and dimensionality reduction.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hybridisation designs from the syllabus. Weighted: run all three and blend. Switching: choose a model based on the situation. With no history we switch to content-based, which solves the new-user cold-start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knowledge-based part. Facts about places (hours, cost, duration, location) are constraints. The planner picks the best-scoring place that fits, with a small penalty for distance. Multi-day trips simply repeat the loop and skip places already used. A 45-minute lunch break is inserted after 1 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output from the app. Nearby old-city places are grouped together because of the distance penalty. Day 2 moves to the Amber area. Each stop has a reason taken from the content match and the CF prediction. Show the live app here if time permits.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on historical data with a hold-out design. All models are retrained on 80% of ratings. We compare against two baselines: predicting the user's mean rating, and recommending the most popular 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hybrid wins on all three ranking metrics. Every model beats popularity by a wide margin. Precision@5 looks low because each user has only about 2 hidden liked places, so 5 picks can be at most about 40% precise. For rating prediction, item-CF has the lowest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we justify the weights instead of guessing. Content-only and CF-only score about the same; any blend is better. That is the core argument for hybrid recommenders.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all five course outcomes: fundamentals, CF and model-based methods, preprocessing and evaluation, content and knowledge-based systems, and hybrid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ratings are simulated, the greedy planner is not globally optimal, and opening hours are simplified. Each of these is a clear extension. Item-CF already supports new users who rate a few places without retraining.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Personalized Itinerary Recommender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Hybrid recommendations and day-by-day trip plans for Jaipur and Delhi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AIM3143 Recommender Systems · B.Tech CSE (AIML) · Manipal University Jaipur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[Name 1] ([Reg No.])   ·   [Name 2] ([Reg No.])</a:t>
            </a:r>
            <a:endParaRPr lang="en-US" sz="1200" dirty="0"/>
          </a:p>
        </p:txBody>
      </p:sp>
      <p:sp>
        <p:nvSpPr>
          <p:cNvPr id="6" name="compass ring"/>
          <p:cNvSpPr/>
          <p:nvPr/>
        </p:nvSpPr>
        <p:spPr>
          <a:xfrm>
            <a:off x="6537960" y="1417320"/>
            <a:ext cx="2103120" cy="2103120"/>
          </a:xfrm>
          <a:prstGeom prst="ellipse">
            <a:avLst/>
          </a:prstGeom>
          <a:solidFill>
            <a:schemeClr val="bg1">
              <a:alpha val="10000"/>
            </a:schemeClr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7" name="compas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8745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generic card"/>
          <p:cNvSpPr/>
          <p:nvPr/>
        </p:nvSpPr>
        <p:spPr>
          <a:xfrm>
            <a:off x="457200" y="1188720"/>
            <a:ext cx="393192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list circle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lis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typical travel list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top-10 for every visitor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Ignores opening hours, budget and distance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 still have to plan the day yourself</a:t>
            </a:r>
            <a:endParaRPr lang="en-US" sz="1400" dirty="0"/>
          </a:p>
        </p:txBody>
      </p:sp>
      <p:sp>
        <p:nvSpPr>
          <p:cNvPr id="8" name="our card"/>
          <p:cNvSpPr/>
          <p:nvPr/>
        </p:nvSpPr>
        <p:spPr>
          <a:xfrm>
            <a:off x="4754880" y="1188720"/>
            <a:ext cx="393192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9" name="user circle"/>
          <p:cNvSpPr/>
          <p:nvPr/>
        </p:nvSpPr>
        <p:spPr>
          <a:xfrm>
            <a:off x="502920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use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Our system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1945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Ranks places by your own taste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Builds a plan that fits time, budget and pace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Explains why each stop was chosen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Goal: personalised ranking  +  a feasible itinerary  +  a one-line reason per stop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System at a glance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457200" y="1325880"/>
            <a:ext cx="1481328" cy="25146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4" name="step icon 1 circle"/>
          <p:cNvSpPr/>
          <p:nvPr/>
        </p:nvSpPr>
        <p:spPr>
          <a:xfrm>
            <a:off x="877824" y="15544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step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377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63 places, 300 users, 5,231 ratings</a:t>
            </a:r>
            <a:endParaRPr lang="en-US" sz="1200" dirty="0"/>
          </a:p>
        </p:txBody>
      </p:sp>
      <p:sp>
        <p:nvSpPr>
          <p:cNvPr id="8" name="arrow 1"/>
          <p:cNvSpPr/>
          <p:nvPr/>
        </p:nvSpPr>
        <p:spPr>
          <a:xfrm rot="5400000">
            <a:off x="1965960" y="2487168"/>
            <a:ext cx="164592" cy="164592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9" name="step 2"/>
          <p:cNvSpPr/>
          <p:nvPr/>
        </p:nvSpPr>
        <p:spPr>
          <a:xfrm>
            <a:off x="2157984" y="1325880"/>
            <a:ext cx="1481328" cy="25146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0" name="step icon 2 circle"/>
          <p:cNvSpPr/>
          <p:nvPr/>
        </p:nvSpPr>
        <p:spPr>
          <a:xfrm>
            <a:off x="2578608" y="15544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step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628" y="17145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49424" y="2377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Three models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249424" y="2788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Content-based, item-based CF, SVD</a:t>
            </a:r>
            <a:endParaRPr lang="en-US" sz="1200" dirty="0"/>
          </a:p>
        </p:txBody>
      </p:sp>
      <p:sp>
        <p:nvSpPr>
          <p:cNvPr id="14" name="arrow 2"/>
          <p:cNvSpPr/>
          <p:nvPr/>
        </p:nvSpPr>
        <p:spPr>
          <a:xfrm rot="5400000">
            <a:off x="3666744" y="2487168"/>
            <a:ext cx="164592" cy="164592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15" name="step 3"/>
          <p:cNvSpPr/>
          <p:nvPr/>
        </p:nvSpPr>
        <p:spPr>
          <a:xfrm>
            <a:off x="3858768" y="1325880"/>
            <a:ext cx="1481328" cy="25146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6" name="step icon 3 circle"/>
          <p:cNvSpPr/>
          <p:nvPr/>
        </p:nvSpPr>
        <p:spPr>
          <a:xfrm>
            <a:off x="4279392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ep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412" y="17145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50208" y="2377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Hybrid score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950208" y="2788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Weighted blend; cold-start switch</a:t>
            </a:r>
            <a:endParaRPr lang="en-US" sz="1200" dirty="0"/>
          </a:p>
        </p:txBody>
      </p:sp>
      <p:sp>
        <p:nvSpPr>
          <p:cNvPr id="20" name="arrow 3"/>
          <p:cNvSpPr/>
          <p:nvPr/>
        </p:nvSpPr>
        <p:spPr>
          <a:xfrm rot="5400000">
            <a:off x="5367528" y="2487168"/>
            <a:ext cx="164592" cy="164592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21" name="step 4"/>
          <p:cNvSpPr/>
          <p:nvPr/>
        </p:nvSpPr>
        <p:spPr>
          <a:xfrm>
            <a:off x="5559552" y="1325880"/>
            <a:ext cx="1481328" cy="25146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22" name="step icon 4 circle"/>
          <p:cNvSpPr/>
          <p:nvPr/>
        </p:nvSpPr>
        <p:spPr>
          <a:xfrm>
            <a:off x="5980176" y="15544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step ic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196" y="17145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50992" y="2377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Planner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650992" y="2788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Constraint-based, day by day</a:t>
            </a:r>
            <a:endParaRPr lang="en-US" sz="1200" dirty="0"/>
          </a:p>
        </p:txBody>
      </p:sp>
      <p:sp>
        <p:nvSpPr>
          <p:cNvPr id="26" name="arrow 4"/>
          <p:cNvSpPr/>
          <p:nvPr/>
        </p:nvSpPr>
        <p:spPr>
          <a:xfrm rot="5400000">
            <a:off x="7068312" y="2487168"/>
            <a:ext cx="164592" cy="164592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27" name="step 5"/>
          <p:cNvSpPr/>
          <p:nvPr/>
        </p:nvSpPr>
        <p:spPr>
          <a:xfrm>
            <a:off x="7260336" y="1325880"/>
            <a:ext cx="1481328" cy="251460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28" name="step icon 5 circle"/>
          <p:cNvSpPr/>
          <p:nvPr/>
        </p:nvSpPr>
        <p:spPr>
          <a:xfrm>
            <a:off x="7680960" y="15544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step icon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0" y="171450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51776" y="237744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Streamlit app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351776" y="2788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Plan, map, reasons, metrics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Every module is one small Python file in the recommender/ folder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dataset</a:t>
            </a:r>
            <a:endParaRPr lang="en-US" sz="3600" dirty="0"/>
          </a:p>
        </p:txBody>
      </p:sp>
      <p:sp>
        <p:nvSpPr>
          <p:cNvPr id="3" name="stat 63"/>
          <p:cNvSpPr/>
          <p:nvPr/>
        </p:nvSpPr>
        <p:spPr>
          <a:xfrm>
            <a:off x="457200" y="1188720"/>
            <a:ext cx="18745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real places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31 Jaipur · 32 Delhi</a:t>
            </a:r>
            <a:endParaRPr lang="en-US" sz="1200" dirty="0"/>
          </a:p>
        </p:txBody>
      </p:sp>
      <p:sp>
        <p:nvSpPr>
          <p:cNvPr id="6" name="stat 300"/>
          <p:cNvSpPr/>
          <p:nvPr/>
        </p:nvSpPr>
        <p:spPr>
          <a:xfrm>
            <a:off x="2514600" y="1188720"/>
            <a:ext cx="18745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51760" y="12984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9019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simulated users</a:t>
            </a:r>
            <a:endParaRPr lang="en-US" sz="1200" dirty="0"/>
          </a:p>
        </p:txBody>
      </p:sp>
      <p:sp>
        <p:nvSpPr>
          <p:cNvPr id="9" name="stat 5,231"/>
          <p:cNvSpPr/>
          <p:nvPr/>
        </p:nvSpPr>
        <p:spPr>
          <a:xfrm>
            <a:off x="457200" y="2606040"/>
            <a:ext cx="18745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715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5,231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192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ratings (1–5)</a:t>
            </a:r>
            <a:endParaRPr lang="en-US" sz="1200" dirty="0"/>
          </a:p>
        </p:txBody>
      </p:sp>
      <p:sp>
        <p:nvSpPr>
          <p:cNvPr id="12" name="stat 72%"/>
          <p:cNvSpPr/>
          <p:nvPr/>
        </p:nvSpPr>
        <p:spPr>
          <a:xfrm>
            <a:off x="2514600" y="2606040"/>
            <a:ext cx="18745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51760" y="2715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3192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the matrix is empty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754880" y="1097280"/>
          <a:ext cx="39319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754880" y="3840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Places, hours and costs are real (approximate). Users are simulated from 9 travel personas such as heritage buff or foodie. The models never see the personas, only the ratings.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Content-based filtering</a:t>
            </a:r>
            <a:endParaRPr lang="en-US" sz="3600" dirty="0"/>
          </a:p>
        </p:txBody>
      </p:sp>
      <p:sp>
        <p:nvSpPr>
          <p:cNvPr id="3" name="cb 0 circle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cb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16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Item profile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TF-IDF vector of the place's tags</a:t>
            </a:r>
            <a:endParaRPr lang="en-US" sz="1400" dirty="0"/>
          </a:p>
        </p:txBody>
      </p:sp>
      <p:sp>
        <p:nvSpPr>
          <p:cNvPr id="7" name="cb 1 circle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cb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231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User profile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Chosen interests + rated places weighted by (rating − own mean)</a:t>
            </a:r>
            <a:endParaRPr lang="en-US" sz="1400" dirty="0"/>
          </a:p>
        </p:txBody>
      </p:sp>
      <p:sp>
        <p:nvSpPr>
          <p:cNvPr id="11" name="cb 2 circle"/>
          <p:cNvSpPr/>
          <p:nvPr/>
        </p:nvSpPr>
        <p:spPr>
          <a:xfrm>
            <a:off x="457200" y="3337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b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747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319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Score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Cosine similarity between user profile and each place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0" y="109728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 10"/>
          <p:cNvSpPr txBox="1"/>
          <p:nvPr/>
        </p:nvSpPr>
        <p:spPr>
          <a:xfrm>
            <a:off x="457200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Rare tags (fort, unesco) get more weight than common ones (heritage)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Item-based collaborative filtering</a:t>
            </a:r>
            <a:endParaRPr lang="en-US" sz="3600" dirty="0"/>
          </a:p>
        </p:txBody>
      </p:sp>
      <p:sp>
        <p:nvSpPr>
          <p:cNvPr id="3" name="formula card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Similarity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1907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Adjusted cosine: cosine between two places' rating columns after subtracting each user's mean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620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r̂(u,i) = r̄u + Σ sim(i,j)·(r(u,j) − r̄u) / Σ |sim(i,j)|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461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 the 10 most similar places j that user u has already rated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54880" y="1097280"/>
          <a:ext cx="39319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754880" y="3611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Red Fort is in another city with different tags. The link comes purely from people rating both places alike.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SVD matrix factorisation</a:t>
            </a:r>
            <a:endParaRPr lang="en-US" sz="3600" dirty="0"/>
          </a:p>
        </p:txBody>
      </p:sp>
      <p:sp>
        <p:nvSpPr>
          <p:cNvPr id="3" name="svd step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070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Fill each missing rating with the user's mean</a:t>
            </a:r>
            <a:endParaRPr lang="en-US" sz="1400" dirty="0"/>
          </a:p>
        </p:txBody>
      </p:sp>
      <p:sp>
        <p:nvSpPr>
          <p:cNvPr id="6" name="svd step 2"/>
          <p:cNvSpPr/>
          <p:nvPr/>
        </p:nvSpPr>
        <p:spPr>
          <a:xfrm>
            <a:off x="457200" y="199339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Subtract the user's mean (normalise)</a:t>
            </a:r>
            <a:endParaRPr lang="en-US" sz="1400" dirty="0"/>
          </a:p>
        </p:txBody>
      </p:sp>
      <p:sp>
        <p:nvSpPr>
          <p:cNvPr id="9" name="svd step 3"/>
          <p:cNvSpPr/>
          <p:nvPr/>
        </p:nvSpPr>
        <p:spPr>
          <a:xfrm>
            <a:off x="457200" y="27980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163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Decompose R = U·S·Vᵀ and keep 8 latent factors</a:t>
            </a:r>
            <a:endParaRPr lang="en-US" sz="1400" dirty="0"/>
          </a:p>
        </p:txBody>
      </p:sp>
      <p:sp>
        <p:nvSpPr>
          <p:cNvPr id="12" name="svd step 4"/>
          <p:cNvSpPr/>
          <p:nvPr/>
        </p:nvSpPr>
        <p:spPr>
          <a:xfrm>
            <a:off x="457200" y="3602736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2102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Multiply back and add the mean: a predicted rating for every place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0" y="109728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8 factors keep 36% of the variance and filter out noise (dimensionality reduction)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Hybrid: weighted + switching</a:t>
            </a:r>
            <a:endParaRPr lang="en-US" sz="3600" dirty="0"/>
          </a:p>
        </p:txBody>
      </p:sp>
      <p:sp>
        <p:nvSpPr>
          <p:cNvPr id="3" name="weighted card"/>
          <p:cNvSpPr/>
          <p:nvPr/>
        </p:nvSpPr>
        <p:spPr>
          <a:xfrm>
            <a:off x="457200" y="1188720"/>
            <a:ext cx="484632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weighted 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weighte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Weighted (parallel)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Existing traveller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14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= </a:t>
            </a:r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·content + </a:t>
            </a:r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·item-CF +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·SVD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1089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part is min-max scaled to 0–1 first so they are comparable. The weights were picked by testing a grid (slide 13).</a:t>
            </a:r>
            <a:endParaRPr lang="en-US" sz="1400" dirty="0"/>
          </a:p>
        </p:txBody>
      </p:sp>
      <p:sp>
        <p:nvSpPr>
          <p:cNvPr id="10" name="switching card"/>
          <p:cNvSpPr/>
          <p:nvPr/>
        </p:nvSpPr>
        <p:spPr>
          <a:xfrm>
            <a:off x="5577840" y="1188720"/>
            <a:ext cx="3108960" cy="32004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11" name="switching circle"/>
          <p:cNvSpPr/>
          <p:nvPr/>
        </p:nvSpPr>
        <p:spPr>
          <a:xfrm>
            <a:off x="580644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switchi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37960" y="1536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Switching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8064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New traveller (cold start)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806440" y="251460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ratings means CF has nothing to work with, so the system switches to content-based only, using the interests the user ticks.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Constraint-based itinerary planner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Constraints (knowledge base)</a:t>
            </a:r>
            <a:endParaRPr lang="en-US" sz="1600" dirty="0"/>
          </a:p>
        </p:txBody>
      </p:sp>
      <p:sp>
        <p:nvSpPr>
          <p:cNvPr id="4" name="constraint 0 circle"/>
          <p:cNvSpPr/>
          <p:nvPr/>
        </p:nvSpPr>
        <p:spPr>
          <a:xfrm>
            <a:off x="457200" y="160020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constraint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70" y="1703070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673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on arrival (wait at most 1 hour)</a:t>
            </a:r>
            <a:endParaRPr lang="en-US" sz="1400" dirty="0"/>
          </a:p>
        </p:txBody>
      </p:sp>
      <p:sp>
        <p:nvSpPr>
          <p:cNvPr id="7" name="constraint 1 circle"/>
          <p:cNvSpPr/>
          <p:nvPr/>
        </p:nvSpPr>
        <p:spPr>
          <a:xfrm>
            <a:off x="457200" y="216712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constrain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2269998"/>
            <a:ext cx="205740" cy="2057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Finish before closing time and day end</a:t>
            </a:r>
            <a:endParaRPr lang="en-US" sz="1400" dirty="0"/>
          </a:p>
        </p:txBody>
      </p:sp>
      <p:sp>
        <p:nvSpPr>
          <p:cNvPr id="10" name="constraint 2 circle"/>
          <p:cNvSpPr/>
          <p:nvPr/>
        </p:nvSpPr>
        <p:spPr>
          <a:xfrm>
            <a:off x="457200" y="2734056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constrain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2836926"/>
            <a:ext cx="205740" cy="2057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05840" y="2807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Stay within the daily budget</a:t>
            </a:r>
            <a:endParaRPr lang="en-US" sz="1400" dirty="0"/>
          </a:p>
        </p:txBody>
      </p:sp>
      <p:sp>
        <p:nvSpPr>
          <p:cNvPr id="13" name="constraint 3 circle"/>
          <p:cNvSpPr/>
          <p:nvPr/>
        </p:nvSpPr>
        <p:spPr>
          <a:xfrm>
            <a:off x="457200" y="3300984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constrain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" y="3403854"/>
            <a:ext cx="205740" cy="2057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5840" y="33741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Max stops per day: 3 / 4 / 6 by pace</a:t>
            </a:r>
            <a:endParaRPr lang="en-US" sz="1400" dirty="0"/>
          </a:p>
        </p:txBody>
      </p:sp>
      <p:sp>
        <p:nvSpPr>
          <p:cNvPr id="16" name="constraint 4 circle"/>
          <p:cNvSpPr/>
          <p:nvPr/>
        </p:nvSpPr>
        <p:spPr>
          <a:xfrm>
            <a:off x="457200" y="3867912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constraint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" y="3970782"/>
            <a:ext cx="205740" cy="20574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05840" y="3941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place is repeated across days</a:t>
            </a:r>
            <a:endParaRPr lang="en-US" sz="1400" dirty="0"/>
          </a:p>
        </p:txBody>
      </p:sp>
      <p:sp>
        <p:nvSpPr>
          <p:cNvPr id="19" name="greedy card"/>
          <p:cNvSpPr/>
          <p:nvPr/>
        </p:nvSpPr>
        <p:spPr>
          <a:xfrm>
            <a:off x="475488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498348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Greedy loop, one day at a time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4983480" y="17556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5303520" y="17556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Start at the city centre at the day's start time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4983480" y="23957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5303520" y="23957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 every place that meets all constraints: utility = score − 0.02 × km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983480" y="30358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5303520" y="30358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 to the best one and move the clock forward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983480" y="36758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5303520" y="36758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Repeat until nothing fits, then start the next day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Example: 2 days in Jaipur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User U003 (hidden persona: heritage buff + art &amp; culture fan) · ₹1,500/day · balanced pace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280160"/>
                <a:gridCol w="2103120"/>
                <a:gridCol w="4297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was picked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09:11–10:11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Jantar Mantar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heritage, history, unesco; similar travellers ~4.2/5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10:22–11:22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Hawa Mahal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palace, heritage,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11:46–13:16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Jawahar Kala Kendra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art, museum,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14:20–15:50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Albert Hall Museum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museum, history, art (after lunch)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09:38–10:08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Panna Meena ka Kund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heritage, architecture; similar travellers ~4.4/5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10:20–11:50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Jaigarh 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heritage,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12:14–12:44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 Mahal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palace,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13:10–14:10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Tripolia Bazaar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Distance penalty keeps day 1 in the old city; day 2 moves north to Amber. Lunch break 13:16–14:01 on day 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we evaluated</a:t>
            </a:r>
            <a:endParaRPr lang="en-US" sz="3600" dirty="0"/>
          </a:p>
        </p:txBody>
      </p:sp>
      <p:sp>
        <p:nvSpPr>
          <p:cNvPr id="3" name="eval 0"/>
          <p:cNvSpPr/>
          <p:nvPr/>
        </p:nvSpPr>
        <p:spPr>
          <a:xfrm>
            <a:off x="45720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019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per-user split: hide 20% of each user's ratings</a:t>
            </a:r>
            <a:endParaRPr lang="en-US" sz="1300" dirty="0"/>
          </a:p>
        </p:txBody>
      </p:sp>
      <p:sp>
        <p:nvSpPr>
          <p:cNvPr id="6" name="eval 1"/>
          <p:cNvSpPr/>
          <p:nvPr/>
        </p:nvSpPr>
        <p:spPr>
          <a:xfrm>
            <a:off x="324612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298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4★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019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hidden place counts as relevant</a:t>
            </a:r>
            <a:endParaRPr lang="en-US" sz="1300" dirty="0"/>
          </a:p>
        </p:txBody>
      </p:sp>
      <p:sp>
        <p:nvSpPr>
          <p:cNvPr id="9" name="eval 2"/>
          <p:cNvSpPr/>
          <p:nvPr/>
        </p:nvSpPr>
        <p:spPr>
          <a:xfrm>
            <a:off x="603504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298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019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rank all unseen places and check the first five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Error metrics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46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RMSE and MAE: how far predicted ratings are from the hidden ones (lower is better)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Decision-support metrics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246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Precision@5, Recall@5 and NDCG@5: are the liked places in the top 5, and near the top? (higher is better)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dcg callout"/>
          <p:cNvSpPr/>
          <p:nvPr/>
        </p:nvSpPr>
        <p:spPr>
          <a:xfrm>
            <a:off x="603504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9385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Hybrid NDCG@5 0.484 vs best single model 0.440</a:t>
            </a:r>
            <a:endParaRPr lang="en-US" sz="1300" dirty="0"/>
          </a:p>
        </p:txBody>
      </p:sp>
      <p:sp>
        <p:nvSpPr>
          <p:cNvPr id="7" name="rmse callout"/>
          <p:cNvSpPr/>
          <p:nvPr/>
        </p:nvSpPr>
        <p:spPr>
          <a:xfrm>
            <a:off x="6035040" y="292608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36758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Item-CF RMSE vs 1.08 for the user-mean baseline (SVD: 0.95)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Tuning the hybrid weights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keaway"/>
          <p:cNvSpPr/>
          <p:nvPr/>
        </p:nvSpPr>
        <p:spPr>
          <a:xfrm>
            <a:off x="5760720" y="1188720"/>
            <a:ext cx="2926080" cy="32004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takeaway circle"/>
          <p:cNvSpPr/>
          <p:nvPr/>
        </p:nvSpPr>
        <p:spPr>
          <a:xfrm>
            <a:off x="598932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akeawa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72084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Takeaway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989320" y="214884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blend beats content-only and CF-only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Content and CF make different mistakes, so mixing them helps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0.4 / 0.3 / 0.3 is the app default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Mapping to the syllabus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Ratings, sparsity, cold 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1–5 ratings, 72% sparse; switching hybrid for new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(content), adjusted cosine (item-CF)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Item-based nearest neighbour CF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ItemKNN, k =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factorisation, latent factors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Truncated SVD, 8 factors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Mean-centring, mean imputation, dimensionality 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Content-based: item &amp; user 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tag vectors, rating-weighted user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Knowledge-based: constraint-based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Itinerary planner (hours, budget, time, pace)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weighted, switching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Evaluation: error &amp; decision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RMSE, MAE, Precision/Recall/NDCG@5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Limitations and next steps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Thank you · Questions?</a:t>
            </a:r>
            <a:endParaRPr lang="en-US" sz="1800" dirty="0"/>
          </a:p>
        </p:txBody>
      </p:sp>
      <p:sp>
        <p:nvSpPr>
          <p:cNvPr id="4" name="limits card"/>
          <p:cNvSpPr/>
          <p:nvPr/>
        </p:nvSpPr>
        <p:spPr>
          <a:xfrm>
            <a:off x="6400800" y="457200"/>
            <a:ext cx="2286000" cy="420624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0" y="640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0058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Simulated ratings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Greedy, not optimal routes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opening window per day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788920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 review 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Route optimisation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Shilling-attack checks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Let new users rate a few places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k City">
  <a:themeElements>
    <a:clrScheme name="Pink City">
      <a:dk1>
        <a:srgbClr val="1E1B2E"/>
      </a:dk1>
      <a:lt1>
        <a:srgbClr val="FFFFFF"/>
      </a:lt1>
      <a:dk2>
        <a:srgbClr val="33264F"/>
      </a:dk2>
      <a:lt2>
        <a:srgbClr val="F3F0F7"/>
      </a:lt2>
      <a:accent1>
        <a:srgbClr val="C8553D"/>
      </a:accent1>
      <a:accent2>
        <a:srgbClr val="E9A23B"/>
      </a:accent2>
      <a:accent3>
        <a:srgbClr val="2A9D8F"/>
      </a:accent3>
      <a:accent4>
        <a:srgbClr val="6B5B95"/>
      </a:accent4>
      <a:accent5>
        <a:srgbClr val="8D99AE"/>
      </a:accent5>
      <a:accent6>
        <a:srgbClr val="D9819C"/>
      </a:accent6>
      <a:hlink>
        <a:srgbClr val="2A9D8F"/>
      </a:hlink>
      <a:folHlink>
        <a:srgbClr val="6B5B95"/>
      </a:folHlink>
    </a:clrScheme>
    <a:fontScheme name="Pink C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Personalized Itinerary Recommender</dc:title>
  <dc:subject>PptxGenJS Presentation</dc:subject>
  <dc:creator>[Name 1], [Name 2]</dc:creator>
  <cp:lastModifiedBy>[Name 1], [Name 2]</cp:lastModifiedBy>
  <cp:revision>1</cp:revision>
  <dcterms:created xsi:type="dcterms:W3CDTF">2026-10-14T10:18:12Z</dcterms:created>
  <dcterms:modified xsi:type="dcterms:W3CDTF">2026-10-14T10:18:12Z</dcterms:modified>
</cp:coreProperties>
</file>